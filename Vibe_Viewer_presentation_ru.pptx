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ea91946504fe6" /><Relationship Type="http://schemas.openxmlformats.org/officeDocument/2006/relationships/extended-properties" Target="/docProps/app.xml" Id="R2ce7440dd7aa430a" /><Relationship Type="http://schemas.openxmlformats.org/officeDocument/2006/relationships/officeDocument" Target="/ppt/presentation.xml" Id="R4d5508449c4e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252bb145694d39"/>
  </p:sldMasterIdLst>
  <p:notesMasterIdLst>
    <p:notesMasterId xmlns:r="http://schemas.openxmlformats.org/officeDocument/2006/relationships" r:id="R2aa9c123c9ac44dd"/>
  </p:notesMasterIdLst>
  <p:sldIdLst>
    <p:sldId xmlns:r="http://schemas.openxmlformats.org/officeDocument/2006/relationships" id="256" r:id="Rd26c33f6311f4889"/>
    <p:sldId xmlns:r="http://schemas.openxmlformats.org/officeDocument/2006/relationships" id="257" r:id="R933d4a06f3a544b9"/>
    <p:sldId xmlns:r="http://schemas.openxmlformats.org/officeDocument/2006/relationships" id="258" r:id="R60f44861c34341df"/>
    <p:sldId xmlns:r="http://schemas.openxmlformats.org/officeDocument/2006/relationships" id="259" r:id="R1f257a1d6b0e49b4"/>
    <p:sldId xmlns:r="http://schemas.openxmlformats.org/officeDocument/2006/relationships" id="260" r:id="R6e237dbebc69428c"/>
    <p:sldId xmlns:r="http://schemas.openxmlformats.org/officeDocument/2006/relationships" id="261" r:id="R536d799aa05044eb"/>
    <p:sldId xmlns:r="http://schemas.openxmlformats.org/officeDocument/2006/relationships" id="262" r:id="R434437f668cc40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3049d2ed54c5b" /><Relationship Type="http://schemas.openxmlformats.org/officeDocument/2006/relationships/slideMaster" Target="/ppt/slideMasters/slideMaster1.xml" Id="Rc3252bb145694d39" /><Relationship Type="http://schemas.openxmlformats.org/officeDocument/2006/relationships/notesMaster" Target="/ppt/notesMasters/notesMaster1.xml" Id="R2aa9c123c9ac44dd" /><Relationship Type="http://schemas.openxmlformats.org/officeDocument/2006/relationships/presProps" Target="/ppt/presProps.xml" Id="R69f6508280bf46f8" /><Relationship Type="http://schemas.openxmlformats.org/officeDocument/2006/relationships/tableStyles" Target="/ppt/tableStyles.xml" Id="R2e5601cbe0fb4789" /><Relationship Type="http://schemas.openxmlformats.org/officeDocument/2006/relationships/slide" Target="/ppt/slides/slide1.xml" Id="Rd26c33f6311f4889" /><Relationship Type="http://schemas.openxmlformats.org/officeDocument/2006/relationships/slide" Target="/ppt/slides/slide2.xml" Id="R933d4a06f3a544b9" /><Relationship Type="http://schemas.openxmlformats.org/officeDocument/2006/relationships/slide" Target="/ppt/slides/slide3.xml" Id="R60f44861c34341df" /><Relationship Type="http://schemas.openxmlformats.org/officeDocument/2006/relationships/slide" Target="/ppt/slides/slide4.xml" Id="R1f257a1d6b0e49b4" /><Relationship Type="http://schemas.openxmlformats.org/officeDocument/2006/relationships/slide" Target="/ppt/slides/slide5.xml" Id="R6e237dbebc69428c" /><Relationship Type="http://schemas.openxmlformats.org/officeDocument/2006/relationships/slide" Target="/ppt/slides/slide6.xml" Id="R536d799aa05044eb" /><Relationship Type="http://schemas.openxmlformats.org/officeDocument/2006/relationships/slide" Target="/ppt/slides/slide7.xml" Id="R434437f668cc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18fa622894e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a37e6349494c7c" /><Relationship Type="http://schemas.openxmlformats.org/officeDocument/2006/relationships/notesMaster" Target="/ppt/notesMasters/notesMaster1.xml" Id="R1c1bea39cc1846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f265f7f7cc4140" /><Relationship Type="http://schemas.openxmlformats.org/officeDocument/2006/relationships/notesMaster" Target="/ppt/notesMasters/notesMaster1.xml" Id="Rf8137e648a12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152edb5ab47a9" /><Relationship Type="http://schemas.openxmlformats.org/officeDocument/2006/relationships/notesMaster" Target="/ppt/notesMasters/notesMaster1.xml" Id="R57ff8da0a10945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94aa75dc8e40d2" /><Relationship Type="http://schemas.openxmlformats.org/officeDocument/2006/relationships/notesMaster" Target="/ppt/notesMasters/notesMaster1.xml" Id="R08a79f1b5b6443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56657aeaa84f86" /><Relationship Type="http://schemas.openxmlformats.org/officeDocument/2006/relationships/notesMaster" Target="/ppt/notesMasters/notesMaster1.xml" Id="Rae9ab8e6392d49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f0ab0b66244e5f" /><Relationship Type="http://schemas.openxmlformats.org/officeDocument/2006/relationships/notesMaster" Target="/ppt/notesMasters/notesMaster1.xml" Id="R60690a3af96d4a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2f36714fd84e3c" /><Relationship Type="http://schemas.openxmlformats.org/officeDocument/2006/relationships/notesMaster" Target="/ppt/notesMasters/notesMaster1.xml" Id="Rb7f0c94f8761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Открытие: это настольный просмотрщик, созданный под условия задания. Главная измеримая характеристика — 290 уникальных расширений в реестре.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/Users/zestros/my_prog/vibe/README.md</a:t>
            </a:r>
          </a:p>
          <a:p xmlns:a="http://schemas.openxmlformats.org/drawingml/2006/main">
            <a:r>
              <a:t>- /Users/zestros/my_prog/vibe/docs/FORMATS.md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прямое соответствие условиям: технология, расположение панелей, сортировка и установка. Отдельно подчеркните внутреннюю обработку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/Users/zestros/my_prog/vibe/README.md</a:t>
            </a:r>
          </a:p>
          <a:p xmlns:a="http://schemas.openxmlformats.org/drawingml/2006/main">
            <a:r>
              <a:t>- /Users/zestros/my_prog/vibe/src/vibe_viewer/ui/main_window.py</a:t>
            </a:r>
          </a:p>
          <a:p xmlns:a="http://schemas.openxmlformats.org/drawingml/2006/main">
            <a:r>
              <a:t>- /Users/zestros/my_prog/vibe/Makefile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снимок текущей сборки, а не макет. На приветственном экране отображается динамический счетчик 290; справа загружен каталог из 76 демонстрационных файлов.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/Users/zestros/Documents/Codex/2026-09-03/gj/work/vibe-viewer-ui.png</a:t>
            </a:r>
          </a:p>
          <a:p xmlns:a="http://schemas.openxmlformats.org/drawingml/2006/main">
            <a:r>
              <a:t>- /Users/zestros/my_prog/vibe/src/vibe_viewer/ui/main_window.py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Восемь полос слева дают 237 записей. Девять остальных категорий дают ещё 55. Всего в категориях 292 записи; .cbz и .ts повторяются, поэтому уникальных расширений 290.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/Users/zestros/my_prog/vibe/docs/FORMATS.md</a:t>
            </a:r>
          </a:p>
          <a:p xmlns:a="http://schemas.openxmlformats.org/drawingml/2006/main">
            <a:r>
              <a:t>- /Users/zestros/my_prog/vibe/src/vibe_viewer/core/registry.py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оговорка делает число форматов интерпретируемым: часть форматов отрисовывается, часть разбирается как содержимое или структура, а универсальный HEX-режим сохраняет доступ к данным при ошибке.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/Users/zestros/my_prog/vibe/docs/FORMATS.md</a:t>
            </a:r>
          </a:p>
          <a:p xmlns:a="http://schemas.openxmlformats.org/drawingml/2006/main">
            <a:r>
              <a:t>- /Users/zestros/my_prog/vibe/README.md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Реестр выбирает специализированный обработчик по приоритету. Ошибка не завершает приложение: выполняется переход в BinaryViewer. Все рабочие обработчики импортируют библиотеки и не запускают внешние программы.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/Users/zestros/my_prog/vibe/docs/ARCHITECTURE.md</a:t>
            </a:r>
          </a:p>
          <a:p xmlns:a="http://schemas.openxmlformats.org/drawingml/2006/main">
            <a:r>
              <a:t>- /Users/zestros/my_prog/vibe/src/vibe_viewer/core/registry.py</a:t>
            </a:r>
          </a:p>
          <a:p xmlns:a="http://schemas.openxmlformats.org/drawingml/2006/main">
            <a:r>
              <a:t>- /Users/zestros/my_prog/vibe/src/vibe_viewer/ui/main_window.py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Закрытие доклада: проект устанавливается и собирается стандартными командами, имеет 35 тестов, а добавление формата изолировано контрактом BaseViewer.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/Users/zestros/my_prog/vibe/Makefile</a:t>
            </a:r>
          </a:p>
          <a:p xmlns:a="http://schemas.openxmlformats.org/drawingml/2006/main">
            <a:r>
              <a:t>- /Users/zestros/my_prog/vibe/pyproject.toml</a:t>
            </a:r>
          </a:p>
          <a:p xmlns:a="http://schemas.openxmlformats.org/drawingml/2006/main">
            <a:r>
              <a:t>- /Users/zestros/my_prog/vibe/docs/ARCHITECTURE.md</a:t>
            </a:r>
          </a:p>
          <a:p xmlns:a="http://schemas.openxmlformats.org/drawingml/2006/main">
            <a:r>
              <a:t>- /Users/zestros/my_prog/vibe/tests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6f0a73375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874b0e419a4471" /><Relationship Type="http://schemas.openxmlformats.org/officeDocument/2006/relationships/slideLayout" Target="/ppt/slideLayouts/slideLayout1.xml" Id="R6467d217186e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7d217186e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d45d2d214938" /><Relationship Type="http://schemas.openxmlformats.org/officeDocument/2006/relationships/notesSlide" Target="/ppt/notesSlides/notesSlide1.xml" Id="Rae65b77b6f02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34394d9b94663" /><Relationship Type="http://schemas.openxmlformats.org/officeDocument/2006/relationships/notesSlide" Target="/ppt/notesSlides/notesSlide2.xml" Id="R0393aa475ead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62805cfcc49b6" /><Relationship Type="http://schemas.openxmlformats.org/officeDocument/2006/relationships/image" Target="/ppt/media/image.png" Id="R32cd6214dbc84493" /><Relationship Type="http://schemas.openxmlformats.org/officeDocument/2006/relationships/notesSlide" Target="/ppt/notesSlides/notesSlide3.xml" Id="Rf52eea58b120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4b82ea62c429d" /><Relationship Type="http://schemas.openxmlformats.org/officeDocument/2006/relationships/notesSlide" Target="/ppt/notesSlides/notesSlide4.xml" Id="R372f23766214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cd80f23bf4b3a" /><Relationship Type="http://schemas.openxmlformats.org/officeDocument/2006/relationships/notesSlide" Target="/ppt/notesSlides/notesSlide5.xml" Id="R9de2ef0b421c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3b08c7e7e4c3f" /><Relationship Type="http://schemas.openxmlformats.org/officeDocument/2006/relationships/notesSlide" Target="/ppt/notesSlides/notesSlide6.xml" Id="R1de6581ae9e9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e363182c44218" /><Relationship Type="http://schemas.openxmlformats.org/officeDocument/2006/relationships/notesSlide" Target="/ppt/notesSlides/notesSlide7.xml" Id="Re06f41f2fa2b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A9DE799-3B5C-4E8E-B55C-9A5CA53B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УЧЕБНЫЙ ПРОЕКТ · PYTHON / PYQT6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5B164DC-F429-4542-8CDF-6D440E7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95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22A0DA-4E26-495D-B278-E438170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Просмотр файлов без запуска внешних программ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D121A5F6-3849-4864-94C3-AE2E99EC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17 категорий  ·  20 обработчиков</a:t>
            </a:r>
          </a:p>
        </p:txBody>
      </p:sp>
      <p:sp>
        <p:nvSpPr>
          <p:cNvPr id="5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4BD63EC8-BC6B-4B03-91B5-1E9EE40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415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count">
            <a:extLst xmlns:a="http://schemas.openxmlformats.org/drawingml/2006/main">
              <a:ext uri="{FF2B5EF4-FFF2-40B4-BE49-F238E27FC236}">
                <a16:creationId xmlns:a16="http://schemas.microsoft.com/office/drawing/2014/main" id="{F2E6423C-7AA0-495D-9275-530C6FDE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290</a:t>
            </a:r>
          </a:p>
        </p:txBody>
      </p:sp>
      <p:sp>
        <p:nvSpPr>
          <p:cNvPr id="7" name="cover-count-label">
            <a:extLst xmlns:a="http://schemas.openxmlformats.org/drawingml/2006/main">
              <a:ext uri="{FF2B5EF4-FFF2-40B4-BE49-F238E27FC236}">
                <a16:creationId xmlns:a16="http://schemas.microsoft.com/office/drawing/2014/main" id="{7B30A026-8583-4CFA-B97B-7954F85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1475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уникальных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расширений</a:t>
            </a:r>
          </a:p>
        </p:txBody>
      </p:sp>
    </p:spTree>
    <p:extLst>
      <p:ext uri="{BB962C8B-B14F-4D97-AF65-F5344CB8AC3E}">
        <p14:creationId xmlns:p14="http://schemas.microsoft.com/office/powerpoint/2010/main" val="649268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510FA6B-A25B-47FF-A6C2-144FC387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Реализация повторяет логику задания</a:t>
            </a:r>
          </a:p>
        </p:txBody>
      </p:sp>
      <p:sp>
        <p:nvSpPr>
          <p:cNvPr id="2" name="req-language-mark">
            <a:extLst xmlns:a="http://schemas.openxmlformats.org/drawingml/2006/main">
              <a:ext uri="{FF2B5EF4-FFF2-40B4-BE49-F238E27FC236}">
                <a16:creationId xmlns:a16="http://schemas.microsoft.com/office/drawing/2014/main" id="{60808AA3-2415-4F69-8C96-33AB1079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q-language-text">
            <a:extLst xmlns:a="http://schemas.openxmlformats.org/drawingml/2006/main">
              <a:ext uri="{FF2B5EF4-FFF2-40B4-BE49-F238E27FC236}">
                <a16:creationId xmlns:a16="http://schemas.microsoft.com/office/drawing/2014/main" id="{26C90BBD-EFA3-4BA2-842D-0498470D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Python + PyQt6</a:t>
            </a:r>
          </a:p>
        </p:txBody>
      </p:sp>
      <p:sp>
        <p:nvSpPr>
          <p:cNvPr id="4" name="req-language-detail">
            <a:extLst xmlns:a="http://schemas.openxmlformats.org/drawingml/2006/main">
              <a:ext uri="{FF2B5EF4-FFF2-40B4-BE49-F238E27FC236}">
                <a16:creationId xmlns:a16="http://schemas.microsoft.com/office/drawing/2014/main" id="{099CD4FA-BB2B-47EE-ACDE-5A9246D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Отдельное настольное приложение с нативными Qt-виджетами.</a:t>
            </a:r>
          </a:p>
        </p:txBody>
      </p:sp>
      <p:sp>
        <p:nvSpPr>
          <p:cNvPr id="5" name="req-layout-mark">
            <a:extLst xmlns:a="http://schemas.openxmlformats.org/drawingml/2006/main">
              <a:ext uri="{FF2B5EF4-FFF2-40B4-BE49-F238E27FC236}">
                <a16:creationId xmlns:a16="http://schemas.microsoft.com/office/drawing/2014/main" id="{B86117AE-5BE7-472C-A6EE-5604801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q-layout-text">
            <a:extLst xmlns:a="http://schemas.openxmlformats.org/drawingml/2006/main">
              <a:ext uri="{FF2B5EF4-FFF2-40B4-BE49-F238E27FC236}">
                <a16:creationId xmlns:a16="http://schemas.microsoft.com/office/drawing/2014/main" id="{8F75DF3B-461F-478C-900A-65CFBD6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Две рабочие области</a:t>
            </a:r>
          </a:p>
        </p:txBody>
      </p:sp>
      <p:sp>
        <p:nvSpPr>
          <p:cNvPr id="7" name="req-layout-detail">
            <a:extLst xmlns:a="http://schemas.openxmlformats.org/drawingml/2006/main">
              <a:ext uri="{FF2B5EF4-FFF2-40B4-BE49-F238E27FC236}">
                <a16:creationId xmlns:a16="http://schemas.microsoft.com/office/drawing/2014/main" id="{C76F6718-B01D-4ECE-8E15-5106DF81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Предпросмотр расположен слева, дерево файлов — справа.</a:t>
            </a:r>
          </a:p>
        </p:txBody>
      </p:sp>
      <p:sp>
        <p:nvSpPr>
          <p:cNvPr id="8" name="req-sort-mark">
            <a:extLst xmlns:a="http://schemas.openxmlformats.org/drawingml/2006/main">
              <a:ext uri="{FF2B5EF4-FFF2-40B4-BE49-F238E27FC236}">
                <a16:creationId xmlns:a16="http://schemas.microsoft.com/office/drawing/2014/main" id="{F4638EA2-6E9F-40CE-B12C-6221F60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q-sort-text">
            <a:extLst xmlns:a="http://schemas.openxmlformats.org/drawingml/2006/main">
              <a:ext uri="{FF2B5EF4-FFF2-40B4-BE49-F238E27FC236}">
                <a16:creationId xmlns:a16="http://schemas.microsoft.com/office/drawing/2014/main" id="{17EF5751-B04D-49C1-9F72-13A4487F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Сортировка в дереве</a:t>
            </a:r>
          </a:p>
        </p:txBody>
      </p:sp>
      <p:sp>
        <p:nvSpPr>
          <p:cNvPr id="10" name="req-sort-detail">
            <a:extLst xmlns:a="http://schemas.openxmlformats.org/drawingml/2006/main">
              <a:ext uri="{FF2B5EF4-FFF2-40B4-BE49-F238E27FC236}">
                <a16:creationId xmlns:a16="http://schemas.microsoft.com/office/drawing/2014/main" id="{AA6320E7-B18A-4190-A53C-AB2BD42E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По имени, размеру, типу и дате изменения.</a:t>
            </a:r>
          </a:p>
        </p:txBody>
      </p:sp>
      <p:sp>
        <p:nvSpPr>
          <p:cNvPr id="11" name="req-ubuntu-mark">
            <a:extLst xmlns:a="http://schemas.openxmlformats.org/drawingml/2006/main">
              <a:ext uri="{FF2B5EF4-FFF2-40B4-BE49-F238E27FC236}">
                <a16:creationId xmlns:a16="http://schemas.microsoft.com/office/drawing/2014/main" id="{821A2BE4-B9BA-4D52-BCEB-4459DA06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q-ubuntu-text">
            <a:extLst xmlns:a="http://schemas.openxmlformats.org/drawingml/2006/main">
              <a:ext uri="{FF2B5EF4-FFF2-40B4-BE49-F238E27FC236}">
                <a16:creationId xmlns:a16="http://schemas.microsoft.com/office/drawing/2014/main" id="{76032C82-0A0F-4D09-A214-2CADF03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Воспроизводимая установка</a:t>
            </a:r>
          </a:p>
        </p:txBody>
      </p:sp>
      <p:sp>
        <p:nvSpPr>
          <p:cNvPr id="13" name="req-ubuntu-detail">
            <a:extLst xmlns:a="http://schemas.openxmlformats.org/drawingml/2006/main">
              <a:ext uri="{FF2B5EF4-FFF2-40B4-BE49-F238E27FC236}">
                <a16:creationId xmlns:a16="http://schemas.microsoft.com/office/drawing/2014/main" id="{E599F3E4-8E67-439D-9AC1-A885EBF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requirements.txt, Makefile и сценарий для чистой Ubuntu.</a:t>
            </a:r>
          </a:p>
        </p:txBody>
      </p:sp>
      <p:sp>
        <p:nvSpPr>
          <p:cNvPr id="14" name="layout-label">
            <a:extLst xmlns:a="http://schemas.openxmlformats.org/drawingml/2006/main">
              <a:ext uri="{FF2B5EF4-FFF2-40B4-BE49-F238E27FC236}">
                <a16:creationId xmlns:a16="http://schemas.microsoft.com/office/drawing/2014/main" id="{F86C070F-8928-404A-A249-32C800A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90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СХЕМА ОКНА</a:t>
            </a:r>
          </a:p>
        </p:txBody>
      </p:sp>
      <p:sp>
        <p:nvSpPr>
          <p:cNvPr id="15" name="window-shell">
            <a:extLst xmlns:a="http://schemas.openxmlformats.org/drawingml/2006/main">
              <a:ext uri="{FF2B5EF4-FFF2-40B4-BE49-F238E27FC236}">
                <a16:creationId xmlns:a16="http://schemas.microsoft.com/office/drawing/2014/main" id="{4F712AE8-95A5-4876-993B-0003DBC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505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window-toolbar">
            <a:extLst xmlns:a="http://schemas.openxmlformats.org/drawingml/2006/main">
              <a:ext uri="{FF2B5EF4-FFF2-40B4-BE49-F238E27FC236}">
                <a16:creationId xmlns:a16="http://schemas.microsoft.com/office/drawing/2014/main" id="{BE435EFD-F4E6-4E81-A740-5CEEA62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50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preview-pane">
            <a:extLst xmlns:a="http://schemas.openxmlformats.org/drawingml/2006/main">
              <a:ext uri="{FF2B5EF4-FFF2-40B4-BE49-F238E27FC236}">
                <a16:creationId xmlns:a16="http://schemas.microsoft.com/office/drawing/2014/main" id="{1978BEE5-91E4-4989-93DF-8FB6714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3105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ree-pane">
            <a:extLst xmlns:a="http://schemas.openxmlformats.org/drawingml/2006/main">
              <a:ext uri="{FF2B5EF4-FFF2-40B4-BE49-F238E27FC236}">
                <a16:creationId xmlns:a16="http://schemas.microsoft.com/office/drawing/2014/main" id="{CEADB210-CA6E-48B0-ADFD-0A81BF1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9431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review-pane-text">
            <a:extLst xmlns:a="http://schemas.openxmlformats.org/drawingml/2006/main">
              <a:ext uri="{FF2B5EF4-FFF2-40B4-BE49-F238E27FC236}">
                <a16:creationId xmlns:a16="http://schemas.microsoft.com/office/drawing/2014/main" id="{7210FD8E-534F-4E19-B306-8A5BC685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71825"/>
            <a:ext cx="2333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СОДЕРЖИМОЕ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ФАЙЛА</a:t>
            </a:r>
          </a:p>
        </p:txBody>
      </p:sp>
      <p:sp>
        <p:nvSpPr>
          <p:cNvPr id="20" name="tree-pane-text">
            <a:extLst xmlns:a="http://schemas.openxmlformats.org/drawingml/2006/main">
              <a:ext uri="{FF2B5EF4-FFF2-40B4-BE49-F238E27FC236}">
                <a16:creationId xmlns:a16="http://schemas.microsoft.com/office/drawing/2014/main" id="{31B7E5C5-BBAA-4F42-B996-D166562F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71825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ДЕРЕВО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ФАЙЛОВ</a:t>
            </a:r>
          </a:p>
        </p:txBody>
      </p:sp>
      <p:sp>
        <p:nvSpPr>
          <p:cNvPr id="21" name="sort-header">
            <a:extLst xmlns:a="http://schemas.openxmlformats.org/drawingml/2006/main">
              <a:ext uri="{FF2B5EF4-FFF2-40B4-BE49-F238E27FC236}">
                <a16:creationId xmlns:a16="http://schemas.microsoft.com/office/drawing/2014/main" id="{FAA59CC8-066A-45DE-9959-2016E3FF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81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rt-header-text">
            <a:extLst xmlns:a="http://schemas.openxmlformats.org/drawingml/2006/main">
              <a:ext uri="{FF2B5EF4-FFF2-40B4-BE49-F238E27FC236}">
                <a16:creationId xmlns:a16="http://schemas.microsoft.com/office/drawing/2014/main" id="{34A01D95-BF8A-4295-A8E9-839D8E3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552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Имя  ·  Тип  ·  Дата</a:t>
            </a:r>
          </a:p>
        </p:txBody>
      </p:sp>
      <p:sp>
        <p:nvSpPr>
          <p:cNvPr id="23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0DFA45B9-CBD3-4AE4-BF32-5EBE3F34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5505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Обработчики работают внутри процесса приложения; внешние программы не вызываются.</a:t>
            </a:r>
          </a:p>
        </p:txBody>
      </p:sp>
      <p:sp>
        <p:nvSpPr>
          <p:cNvPr id="24" name="slide-2-footer-rule">
            <a:extLst xmlns:a="http://schemas.openxmlformats.org/drawingml/2006/main">
              <a:ext uri="{FF2B5EF4-FFF2-40B4-BE49-F238E27FC236}">
                <a16:creationId xmlns:a16="http://schemas.microsoft.com/office/drawing/2014/main" id="{FD21B183-D767-49E7-9252-EC220A8E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AE6CA0E6-F45B-487A-A2DE-B2C06DA8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26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FBE82AEB-D708-4968-B747-2AF1834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4843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4054A19-F14E-4B2D-9B35-56E27FF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Дерево и просмотр связаны одним щелчком</a:t>
            </a:r>
          </a:p>
        </p:txBody>
      </p:sp>
      <p:sp>
        <p:nvSpPr>
          <p:cNvPr id="2" name="ui-shot-backing">
            <a:extLst xmlns:a="http://schemas.openxmlformats.org/drawingml/2006/main">
              <a:ext uri="{FF2B5EF4-FFF2-40B4-BE49-F238E27FC236}">
                <a16:creationId xmlns:a16="http://schemas.microsoft.com/office/drawing/2014/main" id="{BA4A818E-F99F-4CE4-9E6A-1B568F2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851535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d6214dbc84493"/>
          <a:stretch xmlns:a="http://schemas.openxmlformats.org/drawingml/2006/main"/>
        </p:blipFill>
        <p:spPr>
          <a:xfrm xmlns:a="http://schemas.openxmlformats.org/drawingml/2006/main">
            <a:off x="820312" y="1362075"/>
            <a:ext cx="7789127" cy="4838700"/>
          </a:xfrm>
          <a:prstGeom xmlns:a="http://schemas.openxmlformats.org/drawingml/2006/main" prst="rect">
            <a:avLst/>
          </a:prstGeom>
        </p:spPr>
      </p:pic>
      <p:sp>
        <p:nvSpPr>
          <p:cNvPr id="4" name="ui-rail">
            <a:extLst xmlns:a="http://schemas.openxmlformats.org/drawingml/2006/main">
              <a:ext uri="{FF2B5EF4-FFF2-40B4-BE49-F238E27FC236}">
                <a16:creationId xmlns:a16="http://schemas.microsoft.com/office/drawing/2014/main" id="{912FFD2E-3585-4CF6-948B-776A939B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90650"/>
            <a:ext cx="2857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callout-1">
            <a:extLst xmlns:a="http://schemas.openxmlformats.org/drawingml/2006/main">
              <a:ext uri="{FF2B5EF4-FFF2-40B4-BE49-F238E27FC236}">
                <a16:creationId xmlns:a16="http://schemas.microsoft.com/office/drawing/2014/main" id="{0F683E90-1EF3-4A17-81AA-E9386B0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85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Слева</a:t>
            </a:r>
          </a:p>
        </p:txBody>
      </p:sp>
      <p:sp>
        <p:nvSpPr>
          <p:cNvPr id="6" name="ui-callout-1b">
            <a:extLst xmlns:a="http://schemas.openxmlformats.org/drawingml/2006/main">
              <a:ext uri="{FF2B5EF4-FFF2-40B4-BE49-F238E27FC236}">
                <a16:creationId xmlns:a16="http://schemas.microsoft.com/office/drawing/2014/main" id="{EE6E74FE-1119-49C0-B33C-68F5CA77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область содержимого выбранного файла</a:t>
            </a:r>
          </a:p>
        </p:txBody>
      </p:sp>
      <p:sp>
        <p:nvSpPr>
          <p:cNvPr id="7" name="ui-callout-2">
            <a:extLst xmlns:a="http://schemas.openxmlformats.org/drawingml/2006/main">
              <a:ext uri="{FF2B5EF4-FFF2-40B4-BE49-F238E27FC236}">
                <a16:creationId xmlns:a16="http://schemas.microsoft.com/office/drawing/2014/main" id="{3A5EE928-D4BA-4F7D-90DB-F77543F7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Справа</a:t>
            </a:r>
          </a:p>
        </p:txBody>
      </p:sp>
      <p:sp>
        <p:nvSpPr>
          <p:cNvPr id="8" name="ui-callout-2b">
            <a:extLst xmlns:a="http://schemas.openxmlformats.org/drawingml/2006/main">
              <a:ext uri="{FF2B5EF4-FFF2-40B4-BE49-F238E27FC236}">
                <a16:creationId xmlns:a16="http://schemas.microsoft.com/office/drawing/2014/main" id="{C90676C0-F41D-4BF7-9646-31F723E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575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каталог, адресная строка и сортируемые колонки</a:t>
            </a:r>
          </a:p>
        </p:txBody>
      </p:sp>
      <p:sp>
        <p:nvSpPr>
          <p:cNvPr id="9" name="ui-callout-3">
            <a:extLst xmlns:a="http://schemas.openxmlformats.org/drawingml/2006/main">
              <a:ext uri="{FF2B5EF4-FFF2-40B4-BE49-F238E27FC236}">
                <a16:creationId xmlns:a16="http://schemas.microsoft.com/office/drawing/2014/main" id="{8F89AA71-2AFE-41FE-ABAB-276A7D35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95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На снимке</a:t>
            </a:r>
          </a:p>
        </p:txBody>
      </p:sp>
      <p:sp>
        <p:nvSpPr>
          <p:cNvPr id="10" name="ui-callout-3b">
            <a:extLst xmlns:a="http://schemas.openxmlformats.org/drawingml/2006/main">
              <a:ext uri="{FF2B5EF4-FFF2-40B4-BE49-F238E27FC236}">
                <a16:creationId xmlns:a16="http://schemas.microsoft.com/office/drawing/2014/main" id="{EB22CC47-0131-406B-92D5-7EE5D62F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958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76 локальных демонстрационных файлов</a:t>
            </a:r>
          </a:p>
        </p:txBody>
      </p:sp>
      <p:sp>
        <p:nvSpPr>
          <p:cNvPr id="11" name="slide-3-footer-rule">
            <a:extLst xmlns:a="http://schemas.openxmlformats.org/drawingml/2006/main">
              <a:ext uri="{FF2B5EF4-FFF2-40B4-BE49-F238E27FC236}">
                <a16:creationId xmlns:a16="http://schemas.microsoft.com/office/drawing/2014/main" id="{553B4437-3AE0-4358-81C3-1A1E506A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7389C88C-E623-4480-A926-D95A38F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13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150C47FE-682C-4490-8770-14C1CB0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8602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7BCBD8D-A9DE-4AF2-A714-EBCB8D29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290 расширений: полный расчёт</a:t>
            </a:r>
          </a:p>
        </p:txBody>
      </p:sp>
      <p:sp>
        <p:nvSpPr>
          <p:cNvPr id="2" name="formats-subtitle">
            <a:extLst xmlns:a="http://schemas.openxmlformats.org/drawingml/2006/main">
              <a:ext uri="{FF2B5EF4-FFF2-40B4-BE49-F238E27FC236}">
                <a16:creationId xmlns:a16="http://schemas.microsoft.com/office/drawing/2014/main" id="{46A89B05-B988-4578-A031-677A5FEF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8 крупнейших категорий — 237 записей</a:t>
            </a:r>
          </a:p>
        </p:txBody>
      </p:sp>
      <p:sp>
        <p:nvSpPr>
          <p:cNvPr id="3" name="bar-label-0">
            <a:extLst xmlns:a="http://schemas.openxmlformats.org/drawingml/2006/main">
              <a:ext uri="{FF2B5EF4-FFF2-40B4-BE49-F238E27FC236}">
                <a16:creationId xmlns:a16="http://schemas.microsoft.com/office/drawing/2014/main" id="{A1A66D18-D939-4C93-804E-BFC2812F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Текст и исходный код</a:t>
            </a:r>
          </a:p>
        </p:txBody>
      </p:sp>
      <p:sp>
        <p:nvSpPr>
          <p:cNvPr id="4" name="bar-track-0">
            <a:extLst xmlns:a="http://schemas.openxmlformats.org/drawingml/2006/main">
              <a:ext uri="{FF2B5EF4-FFF2-40B4-BE49-F238E27FC236}">
                <a16:creationId xmlns:a16="http://schemas.microsoft.com/office/drawing/2014/main" id="{34D1CF6D-2092-49D7-BCBB-79801C63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r-fill-0">
            <a:extLst xmlns:a="http://schemas.openxmlformats.org/drawingml/2006/main">
              <a:ext uri="{FF2B5EF4-FFF2-40B4-BE49-F238E27FC236}">
                <a16:creationId xmlns:a16="http://schemas.microsoft.com/office/drawing/2014/main" id="{CF55DA81-4B61-48BC-AD03-16590E7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r-value-0">
            <a:extLst xmlns:a="http://schemas.openxmlformats.org/drawingml/2006/main">
              <a:ext uri="{FF2B5EF4-FFF2-40B4-BE49-F238E27FC236}">
                <a16:creationId xmlns:a16="http://schemas.microsoft.com/office/drawing/2014/main" id="{45D5B896-F23D-4FE8-A05D-BBC8376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24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7" name="bar-label-1">
            <a:extLst xmlns:a="http://schemas.openxmlformats.org/drawingml/2006/main">
              <a:ext uri="{FF2B5EF4-FFF2-40B4-BE49-F238E27FC236}">
                <a16:creationId xmlns:a16="http://schemas.microsoft.com/office/drawing/2014/main" id="{4B6F7A8C-429D-4B0B-92A4-9C60D53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Изображения</a:t>
            </a:r>
          </a:p>
        </p:txBody>
      </p:sp>
      <p:sp>
        <p:nvSpPr>
          <p:cNvPr id="8" name="bar-track-1">
            <a:extLst xmlns:a="http://schemas.openxmlformats.org/drawingml/2006/main">
              <a:ext uri="{FF2B5EF4-FFF2-40B4-BE49-F238E27FC236}">
                <a16:creationId xmlns:a16="http://schemas.microsoft.com/office/drawing/2014/main" id="{8A1C1863-0AFE-4FCB-9C48-B6764E5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r-fill-1">
            <a:extLst xmlns:a="http://schemas.openxmlformats.org/drawingml/2006/main">
              <a:ext uri="{FF2B5EF4-FFF2-40B4-BE49-F238E27FC236}">
                <a16:creationId xmlns:a16="http://schemas.microsoft.com/office/drawing/2014/main" id="{608DF45F-44F5-431E-8F43-C1303EA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3171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r-value-1">
            <a:extLst xmlns:a="http://schemas.openxmlformats.org/drawingml/2006/main">
              <a:ext uri="{FF2B5EF4-FFF2-40B4-BE49-F238E27FC236}">
                <a16:creationId xmlns:a16="http://schemas.microsoft.com/office/drawing/2014/main" id="{B12CFF9D-683C-4BB6-9CCB-0E9E0767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11" name="bar-label-2">
            <a:extLst xmlns:a="http://schemas.openxmlformats.org/drawingml/2006/main">
              <a:ext uri="{FF2B5EF4-FFF2-40B4-BE49-F238E27FC236}">
                <a16:creationId xmlns:a16="http://schemas.microsoft.com/office/drawing/2014/main" id="{36C6B661-E58C-48C6-A869-CB968AE3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Архивы и пакеты</a:t>
            </a:r>
          </a:p>
        </p:txBody>
      </p:sp>
      <p:sp>
        <p:nvSpPr>
          <p:cNvPr id="12" name="bar-track-2">
            <a:extLst xmlns:a="http://schemas.openxmlformats.org/drawingml/2006/main">
              <a:ext uri="{FF2B5EF4-FFF2-40B4-BE49-F238E27FC236}">
                <a16:creationId xmlns:a16="http://schemas.microsoft.com/office/drawing/2014/main" id="{6A4FCFC9-D314-4823-9E84-5DA8918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r-fill-2">
            <a:extLst xmlns:a="http://schemas.openxmlformats.org/drawingml/2006/main">
              <a:ext uri="{FF2B5EF4-FFF2-40B4-BE49-F238E27FC236}">
                <a16:creationId xmlns:a16="http://schemas.microsoft.com/office/drawing/2014/main" id="{9F53A171-A34F-4CB0-911D-7D3B0601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2066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r-value-2">
            <a:extLst xmlns:a="http://schemas.openxmlformats.org/drawingml/2006/main">
              <a:ext uri="{FF2B5EF4-FFF2-40B4-BE49-F238E27FC236}">
                <a16:creationId xmlns:a16="http://schemas.microsoft.com/office/drawing/2014/main" id="{4F5B0B4A-1E04-4CE8-839E-EC1AC2F3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752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15" name="bar-label-3">
            <a:extLst xmlns:a="http://schemas.openxmlformats.org/drawingml/2006/main">
              <a:ext uri="{FF2B5EF4-FFF2-40B4-BE49-F238E27FC236}">
                <a16:creationId xmlns:a16="http://schemas.microsoft.com/office/drawing/2014/main" id="{58B11F35-55E6-40D1-BD1D-9FDFB92D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670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Аудио и видео</a:t>
            </a:r>
          </a:p>
        </p:txBody>
      </p:sp>
      <p:sp>
        <p:nvSpPr>
          <p:cNvPr id="16" name="bar-track-3">
            <a:extLst xmlns:a="http://schemas.openxmlformats.org/drawingml/2006/main">
              <a:ext uri="{FF2B5EF4-FFF2-40B4-BE49-F238E27FC236}">
                <a16:creationId xmlns:a16="http://schemas.microsoft.com/office/drawing/2014/main" id="{D390232B-78D8-49E6-9196-07C786C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r-fill-3">
            <a:extLst xmlns:a="http://schemas.openxmlformats.org/drawingml/2006/main">
              <a:ext uri="{FF2B5EF4-FFF2-40B4-BE49-F238E27FC236}">
                <a16:creationId xmlns:a16="http://schemas.microsoft.com/office/drawing/2014/main" id="{DD961399-FA25-45E5-81F7-DE3D34E4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1990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r-value-3">
            <a:extLst xmlns:a="http://schemas.openxmlformats.org/drawingml/2006/main">
              <a:ext uri="{FF2B5EF4-FFF2-40B4-BE49-F238E27FC236}">
                <a16:creationId xmlns:a16="http://schemas.microsoft.com/office/drawing/2014/main" id="{96D8A87A-084E-45DC-AD24-0FD680F5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670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19" name="bar-label-4">
            <a:extLst xmlns:a="http://schemas.openxmlformats.org/drawingml/2006/main">
              <a:ext uri="{FF2B5EF4-FFF2-40B4-BE49-F238E27FC236}">
                <a16:creationId xmlns:a16="http://schemas.microsoft.com/office/drawing/2014/main" id="{DE179AD4-C803-4387-961B-BF02A9DC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Office и таблицы</a:t>
            </a:r>
          </a:p>
        </p:txBody>
      </p:sp>
      <p:sp>
        <p:nvSpPr>
          <p:cNvPr id="20" name="bar-track-4">
            <a:extLst xmlns:a="http://schemas.openxmlformats.org/drawingml/2006/main">
              <a:ext uri="{FF2B5EF4-FFF2-40B4-BE49-F238E27FC236}">
                <a16:creationId xmlns:a16="http://schemas.microsoft.com/office/drawing/2014/main" id="{14FCEC32-9DCE-47E1-B785-4EF49BE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r-fill-4">
            <a:extLst xmlns:a="http://schemas.openxmlformats.org/drawingml/2006/main">
              <a:ext uri="{FF2B5EF4-FFF2-40B4-BE49-F238E27FC236}">
                <a16:creationId xmlns:a16="http://schemas.microsoft.com/office/drawing/2014/main" id="{4B63C8EE-F39A-4246-9B17-0827424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r-value-4">
            <a:extLst xmlns:a="http://schemas.openxmlformats.org/drawingml/2006/main">
              <a:ext uri="{FF2B5EF4-FFF2-40B4-BE49-F238E27FC236}">
                <a16:creationId xmlns:a16="http://schemas.microsoft.com/office/drawing/2014/main" id="{ED3ED75F-65A5-4E09-A536-5729D85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81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23" name="bar-label-5">
            <a:extLst xmlns:a="http://schemas.openxmlformats.org/drawingml/2006/main">
              <a:ext uri="{FF2B5EF4-FFF2-40B4-BE49-F238E27FC236}">
                <a16:creationId xmlns:a16="http://schemas.microsoft.com/office/drawing/2014/main" id="{392DDC54-88AE-4958-9D44-786CA09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Базы и научные данные</a:t>
            </a:r>
          </a:p>
        </p:txBody>
      </p:sp>
      <p:sp>
        <p:nvSpPr>
          <p:cNvPr id="24" name="bar-track-5">
            <a:extLst xmlns:a="http://schemas.openxmlformats.org/drawingml/2006/main">
              <a:ext uri="{FF2B5EF4-FFF2-40B4-BE49-F238E27FC236}">
                <a16:creationId xmlns:a16="http://schemas.microsoft.com/office/drawing/2014/main" id="{CCE3124B-A8E4-40A4-9BA5-11CD5D2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r-fill-5">
            <a:extLst xmlns:a="http://schemas.openxmlformats.org/drawingml/2006/main">
              <a:ext uri="{FF2B5EF4-FFF2-40B4-BE49-F238E27FC236}">
                <a16:creationId xmlns:a16="http://schemas.microsoft.com/office/drawing/2014/main" id="{246867FE-E810-4793-B8A8-7D286F24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1552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r-value-5">
            <a:extLst xmlns:a="http://schemas.openxmlformats.org/drawingml/2006/main">
              <a:ext uri="{FF2B5EF4-FFF2-40B4-BE49-F238E27FC236}">
                <a16:creationId xmlns:a16="http://schemas.microsoft.com/office/drawing/2014/main" id="{D3D982DD-957B-4C5F-BE6C-8576652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957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27" name="bar-label-6">
            <a:extLst xmlns:a="http://schemas.openxmlformats.org/drawingml/2006/main">
              <a:ext uri="{FF2B5EF4-FFF2-40B4-BE49-F238E27FC236}">
                <a16:creationId xmlns:a16="http://schemas.microsoft.com/office/drawing/2014/main" id="{516B3859-4AFD-4114-A2D7-5E98426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Структурированные данные</a:t>
            </a:r>
          </a:p>
        </p:txBody>
      </p:sp>
      <p:sp>
        <p:nvSpPr>
          <p:cNvPr id="28" name="bar-track-6">
            <a:extLst xmlns:a="http://schemas.openxmlformats.org/drawingml/2006/main">
              <a:ext uri="{FF2B5EF4-FFF2-40B4-BE49-F238E27FC236}">
                <a16:creationId xmlns:a16="http://schemas.microsoft.com/office/drawing/2014/main" id="{FE1E2FC5-1A32-4623-87DA-4D880680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ar-fill-6">
            <a:extLst xmlns:a="http://schemas.openxmlformats.org/drawingml/2006/main">
              <a:ext uri="{FF2B5EF4-FFF2-40B4-BE49-F238E27FC236}">
                <a16:creationId xmlns:a16="http://schemas.microsoft.com/office/drawing/2014/main" id="{A5570F26-8418-4230-9DEA-192E974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14001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r-value-6">
            <a:extLst xmlns:a="http://schemas.openxmlformats.org/drawingml/2006/main">
              <a:ext uri="{FF2B5EF4-FFF2-40B4-BE49-F238E27FC236}">
                <a16:creationId xmlns:a16="http://schemas.microsoft.com/office/drawing/2014/main" id="{D98F5D05-C3F1-4236-A7F5-11A190A4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10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1" name="bar-label-7">
            <a:extLst xmlns:a="http://schemas.openxmlformats.org/drawingml/2006/main">
              <a:ext uri="{FF2B5EF4-FFF2-40B4-BE49-F238E27FC236}">
                <a16:creationId xmlns:a16="http://schemas.microsoft.com/office/drawing/2014/main" id="{CD649222-A250-4BF1-A6EB-8804A4D9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Документы и e-books</a:t>
            </a:r>
          </a:p>
        </p:txBody>
      </p:sp>
      <p:sp>
        <p:nvSpPr>
          <p:cNvPr id="32" name="bar-track-7">
            <a:extLst xmlns:a="http://schemas.openxmlformats.org/drawingml/2006/main">
              <a:ext uri="{FF2B5EF4-FFF2-40B4-BE49-F238E27FC236}">
                <a16:creationId xmlns:a16="http://schemas.microsoft.com/office/drawing/2014/main" id="{C31F3EF5-CBBE-490D-A374-9D2028E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r-fill-7">
            <a:extLst xmlns:a="http://schemas.openxmlformats.org/drawingml/2006/main">
              <a:ext uri="{FF2B5EF4-FFF2-40B4-BE49-F238E27FC236}">
                <a16:creationId xmlns:a16="http://schemas.microsoft.com/office/drawing/2014/main" id="{D7447154-8307-4610-AFFA-24BD4E1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95900"/>
            <a:ext cx="885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ar-value-7">
            <a:extLst xmlns:a="http://schemas.openxmlformats.org/drawingml/2006/main">
              <a:ext uri="{FF2B5EF4-FFF2-40B4-BE49-F238E27FC236}">
                <a16:creationId xmlns:a16="http://schemas.microsoft.com/office/drawing/2014/main" id="{DD43A5D7-F81F-49E8-87B7-FC485E30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3244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5" name="metrics-panel">
            <a:extLst xmlns:a="http://schemas.openxmlformats.org/drawingml/2006/main">
              <a:ext uri="{FF2B5EF4-FFF2-40B4-BE49-F238E27FC236}">
                <a16:creationId xmlns:a16="http://schemas.microsoft.com/office/drawing/2014/main" id="{925596FF-1C7C-40E6-8543-168C835B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3147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metric-17">
            <a:extLst xmlns:a="http://schemas.openxmlformats.org/drawingml/2006/main">
              <a:ext uri="{FF2B5EF4-FFF2-40B4-BE49-F238E27FC236}">
                <a16:creationId xmlns:a16="http://schemas.microsoft.com/office/drawing/2014/main" id="{1CC7A827-CA3E-40EC-BE8E-D4E8FCAE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62125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+55</a:t>
            </a:r>
          </a:p>
        </p:txBody>
      </p:sp>
      <p:sp>
        <p:nvSpPr>
          <p:cNvPr id="37" name="metric-17-label">
            <a:extLst xmlns:a="http://schemas.openxmlformats.org/drawingml/2006/main">
              <a:ext uri="{FF2B5EF4-FFF2-40B4-BE49-F238E27FC236}">
                <a16:creationId xmlns:a16="http://schemas.microsoft.com/office/drawing/2014/main" id="{78289D21-3102-43B1-9C82-24D36A88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383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9 категорий</a:t>
            </a:r>
          </a:p>
        </p:txBody>
      </p:sp>
      <p:sp>
        <p:nvSpPr>
          <p:cNvPr id="38" name="metrics-rule-1">
            <a:extLst xmlns:a="http://schemas.openxmlformats.org/drawingml/2006/main">
              <a:ext uri="{FF2B5EF4-FFF2-40B4-BE49-F238E27FC236}">
                <a16:creationId xmlns:a16="http://schemas.microsoft.com/office/drawing/2014/main" id="{95C3F617-ED5E-47FB-9C71-F78B1C1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57475"/>
            <a:ext cx="262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ric-20">
            <a:extLst xmlns:a="http://schemas.openxmlformats.org/drawingml/2006/main">
              <a:ext uri="{FF2B5EF4-FFF2-40B4-BE49-F238E27FC236}">
                <a16:creationId xmlns:a16="http://schemas.microsoft.com/office/drawing/2014/main" id="{9E424C20-EC26-42F6-8052-448C32B5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86075"/>
            <a:ext cx="114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292</a:t>
            </a:r>
          </a:p>
        </p:txBody>
      </p:sp>
      <p:sp>
        <p:nvSpPr>
          <p:cNvPr id="40" name="metric-20-label">
            <a:extLst xmlns:a="http://schemas.openxmlformats.org/drawingml/2006/main">
              <a:ext uri="{FF2B5EF4-FFF2-40B4-BE49-F238E27FC236}">
                <a16:creationId xmlns:a16="http://schemas.microsoft.com/office/drawing/2014/main" id="{3BE3CDF7-E1EF-45E7-8FCE-18870466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записи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по категориям</a:t>
            </a:r>
          </a:p>
        </p:txBody>
      </p:sp>
      <p:sp>
        <p:nvSpPr>
          <p:cNvPr id="41" name="metrics-rule-2">
            <a:extLst xmlns:a="http://schemas.openxmlformats.org/drawingml/2006/main">
              <a:ext uri="{FF2B5EF4-FFF2-40B4-BE49-F238E27FC236}">
                <a16:creationId xmlns:a16="http://schemas.microsoft.com/office/drawing/2014/main" id="{C13A2C82-FAA6-4A9B-A6AD-A48F925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62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etric-fallback">
            <a:extLst xmlns:a="http://schemas.openxmlformats.org/drawingml/2006/main">
              <a:ext uri="{FF2B5EF4-FFF2-40B4-BE49-F238E27FC236}">
                <a16:creationId xmlns:a16="http://schemas.microsoft.com/office/drawing/2014/main" id="{90131334-369E-467C-8FEF-7DA145E2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−2</a:t>
            </a:r>
          </a:p>
        </p:txBody>
      </p:sp>
      <p:sp>
        <p:nvSpPr>
          <p:cNvPr id="43" name="metric-fallback-label">
            <a:extLst xmlns:a="http://schemas.openxmlformats.org/drawingml/2006/main">
              <a:ext uri="{FF2B5EF4-FFF2-40B4-BE49-F238E27FC236}">
                <a16:creationId xmlns:a16="http://schemas.microsoft.com/office/drawing/2014/main" id="{33CEC999-A738-4107-BC38-2E1F0D3A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433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повтора: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.cbz и .ts</a:t>
            </a:r>
          </a:p>
        </p:txBody>
      </p:sp>
      <p:sp>
        <p:nvSpPr>
          <p:cNvPr id="44" name="formats-note">
            <a:extLst xmlns:a="http://schemas.openxmlformats.org/drawingml/2006/main">
              <a:ext uri="{FF2B5EF4-FFF2-40B4-BE49-F238E27FC236}">
                <a16:creationId xmlns:a16="http://schemas.microsoft.com/office/drawing/2014/main" id="{B264AE57-4701-49E5-9648-4655DF5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237 + 55 = 292 записи по категориям; 292 − 2 повтора = 290 уникальных расширений.</a:t>
            </a:r>
          </a:p>
        </p:txBody>
      </p:sp>
      <p:sp>
        <p:nvSpPr>
          <p:cNvPr id="45" name="slide-4-footer-rule">
            <a:extLst xmlns:a="http://schemas.openxmlformats.org/drawingml/2006/main">
              <a:ext uri="{FF2B5EF4-FFF2-40B4-BE49-F238E27FC236}">
                <a16:creationId xmlns:a16="http://schemas.microsoft.com/office/drawing/2014/main" id="{08EDC07F-4439-4825-83D2-8343FB2C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lide-4-footer-label">
            <a:extLst xmlns:a="http://schemas.openxmlformats.org/drawingml/2006/main">
              <a:ext uri="{FF2B5EF4-FFF2-40B4-BE49-F238E27FC236}">
                <a16:creationId xmlns:a16="http://schemas.microsoft.com/office/drawing/2014/main" id="{6C9A9125-DAC8-42B7-8FA5-B96C9CC1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47" name="slide-4-footer-number">
            <a:extLst xmlns:a="http://schemas.openxmlformats.org/drawingml/2006/main">
              <a:ext uri="{FF2B5EF4-FFF2-40B4-BE49-F238E27FC236}">
                <a16:creationId xmlns:a16="http://schemas.microsoft.com/office/drawing/2014/main" id="{4F691907-CB39-46C6-8C0A-9CA26E20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890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E6E61D8-FB74-492E-96DA-D41AF389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«Поддержка» означает разные уровни просмотра</a:t>
            </a:r>
          </a:p>
        </p:txBody>
      </p:sp>
      <p:sp>
        <p:nvSpPr>
          <p:cNvPr id="2" name="support-line">
            <a:extLst xmlns:a="http://schemas.openxmlformats.org/drawingml/2006/main">
              <a:ext uri="{FF2B5EF4-FFF2-40B4-BE49-F238E27FC236}">
                <a16:creationId xmlns:a16="http://schemas.microsoft.com/office/drawing/2014/main" id="{C6E8E880-096D-49CE-8D9A-E1967096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E0761FC6-058F-41B3-9F3B-C7B61CBA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stage-dot-0">
            <a:extLst xmlns:a="http://schemas.openxmlformats.org/drawingml/2006/main">
              <a:ext uri="{FF2B5EF4-FFF2-40B4-BE49-F238E27FC236}">
                <a16:creationId xmlns:a16="http://schemas.microsoft.com/office/drawing/2014/main" id="{4E0A207A-DEF1-4CC8-BF08-B134EE09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2512EF05-040F-4B01-90D0-5111F5AA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Отрисовка</a:t>
            </a:r>
          </a:p>
        </p:txBody>
      </p:sp>
      <p:sp>
        <p:nvSpPr>
          <p:cNvPr id="6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9BF1D3BC-006D-40E3-BCCC-CEAB654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238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Изображения, PDF/XPS, страницы документов, аудио и видео.</a:t>
            </a:r>
          </a:p>
        </p:txBody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4D7AAF1D-5063-4DEF-8170-8DCD8F6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stage-dot-1">
            <a:extLst xmlns:a="http://schemas.openxmlformats.org/drawingml/2006/main">
              <a:ext uri="{FF2B5EF4-FFF2-40B4-BE49-F238E27FC236}">
                <a16:creationId xmlns:a16="http://schemas.microsoft.com/office/drawing/2014/main" id="{9F64D3A4-C9D0-4D32-8E4F-F035619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5232CC69-356B-4C7B-88A9-BC859279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Извлечение</a:t>
            </a:r>
          </a:p>
        </p:txBody>
      </p:sp>
      <p:sp>
        <p:nvSpPr>
          <p:cNvPr id="10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45A8EA00-CF45-41DD-B672-F239A168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2238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Office, электронные книги, таблицы, письма и контакты.</a:t>
            </a:r>
          </a:p>
        </p:txBody>
      </p:sp>
      <p:sp>
        <p:nvSpPr>
          <p:cNvPr id="11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B906FA9E-1F79-4D92-B0B1-A6D976E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stage-dot-2">
            <a:extLst xmlns:a="http://schemas.openxmlformats.org/drawingml/2006/main">
              <a:ext uri="{FF2B5EF4-FFF2-40B4-BE49-F238E27FC236}">
                <a16:creationId xmlns:a16="http://schemas.microsoft.com/office/drawing/2014/main" id="{347AC0C4-53DB-4333-B543-50C00922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1B1D2296-8F27-4968-A319-6F3D73FC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76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Структура</a:t>
            </a:r>
          </a:p>
        </p:txBody>
      </p:sp>
      <p:sp>
        <p:nvSpPr>
          <p:cNvPr id="14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82AD16EA-D4E5-4689-A913-08D7900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0900"/>
            <a:ext cx="2238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Архивы, БД, научные данные, 3D, сеть и бинарные файлы.</a:t>
            </a:r>
          </a:p>
        </p:txBody>
      </p:sp>
      <p:sp>
        <p:nvSpPr>
          <p:cNvPr id="15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C63E2E37-E4B2-435C-A4EC-C4D927F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stage-dot-3">
            <a:extLst xmlns:a="http://schemas.openxmlformats.org/drawingml/2006/main">
              <a:ext uri="{FF2B5EF4-FFF2-40B4-BE49-F238E27FC236}">
                <a16:creationId xmlns:a16="http://schemas.microsoft.com/office/drawing/2014/main" id="{C56311AB-3A90-4C43-A444-25A4AEA7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B8EE989-1D76-4F78-8ABE-EC3D76D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Резерв</a:t>
            </a:r>
          </a:p>
        </p:txBody>
      </p:sp>
      <p:sp>
        <p:nvSpPr>
          <p:cNvPr id="18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DCBF23E0-0241-47E0-BCA1-88C7C82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2238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Неизвестный или повреждённый файл открывается в HEX.</a:t>
            </a:r>
          </a:p>
        </p:txBody>
      </p:sp>
      <p:sp>
        <p:nvSpPr>
          <p:cNvPr id="19" name="depth-note-panel">
            <a:extLst xmlns:a="http://schemas.openxmlformats.org/drawingml/2006/main">
              <a:ext uri="{FF2B5EF4-FFF2-40B4-BE49-F238E27FC236}">
                <a16:creationId xmlns:a16="http://schemas.microsoft.com/office/drawing/2014/main" id="{E1DA83A0-08EF-47AF-BFA4-F7A7DCA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172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pth-note">
            <a:extLst xmlns:a="http://schemas.openxmlformats.org/drawingml/2006/main">
              <a:ext uri="{FF2B5EF4-FFF2-40B4-BE49-F238E27FC236}">
                <a16:creationId xmlns:a16="http://schemas.microsoft.com/office/drawing/2014/main" id="{0F46EF08-BCE9-473D-89F7-0202726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48275"/>
            <a:ext cx="960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Office-файлы показывают извлечённое содержимое и структуру, а не пиксельную копию интерфейса Word или PowerPoint.</a:t>
            </a:r>
          </a:p>
        </p:txBody>
      </p:sp>
      <p:sp>
        <p:nvSpPr>
          <p:cNvPr id="21" name="slide-5-footer-rule">
            <a:extLst xmlns:a="http://schemas.openxmlformats.org/drawingml/2006/main">
              <a:ext uri="{FF2B5EF4-FFF2-40B4-BE49-F238E27FC236}">
                <a16:creationId xmlns:a16="http://schemas.microsoft.com/office/drawing/2014/main" id="{3B07B245-2C0E-45A1-B694-99B400D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lide-5-footer-label">
            <a:extLst xmlns:a="http://schemas.openxmlformats.org/drawingml/2006/main">
              <a:ext uri="{FF2B5EF4-FFF2-40B4-BE49-F238E27FC236}">
                <a16:creationId xmlns:a16="http://schemas.microsoft.com/office/drawing/2014/main" id="{40788247-86C0-48F7-A288-8FE796C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23" name="slide-5-footer-number">
            <a:extLst xmlns:a="http://schemas.openxmlformats.org/drawingml/2006/main">
              <a:ext uri="{FF2B5EF4-FFF2-40B4-BE49-F238E27FC236}">
                <a16:creationId xmlns:a16="http://schemas.microsoft.com/office/drawing/2014/main" id="{BAA8E50B-BC1C-482D-AA78-174A251A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9431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9E2A70F-855A-4993-AEB5-827148C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Файл обрабатывается внутри одного процесса</a:t>
            </a:r>
          </a:p>
        </p:txBody>
      </p:sp>
      <p:sp>
        <p:nvSpPr>
          <p:cNvPr id="2" name="flow-box-0">
            <a:extLst xmlns:a="http://schemas.openxmlformats.org/drawingml/2006/main">
              <a:ext uri="{FF2B5EF4-FFF2-40B4-BE49-F238E27FC236}">
                <a16:creationId xmlns:a16="http://schemas.microsoft.com/office/drawing/2014/main" id="{E0D0D4E3-48EB-41EE-B8B5-92D719C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F62A2B70-1452-4823-A043-D20BDC5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Файл</a:t>
            </a:r>
          </a:p>
        </p:txBody>
      </p:sp>
      <p:sp>
        <p:nvSpPr>
          <p:cNvPr id="4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7D24A8B6-7390-4208-8042-F5FF657F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путь + сигнатура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0AC4DBF-03DA-4E0A-BC44-D403C77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box-1">
            <a:extLst xmlns:a="http://schemas.openxmlformats.org/drawingml/2006/main">
              <a:ext uri="{FF2B5EF4-FFF2-40B4-BE49-F238E27FC236}">
                <a16:creationId xmlns:a16="http://schemas.microsoft.com/office/drawing/2014/main" id="{773EF08A-303F-4C17-A76D-C0C20765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B7BD65B8-D10F-461B-AB64-77D80677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ViewerRegistry</a:t>
            </a:r>
          </a:p>
        </p:txBody>
      </p:sp>
      <p:sp>
        <p:nvSpPr>
          <p:cNvPr id="8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D2CD09AB-D8BA-4F8E-BD0B-EDC06EB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приоритет + расширение</a:t>
            </a:r>
          </a:p>
        </p:txBody>
      </p:sp>
      <p:sp>
        <p:nvSpPr>
          <p:cNvPr id="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8BB0059-B833-48BA-988F-58BB9036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0030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box-2">
            <a:extLst xmlns:a="http://schemas.openxmlformats.org/drawingml/2006/main">
              <a:ext uri="{FF2B5EF4-FFF2-40B4-BE49-F238E27FC236}">
                <a16:creationId xmlns:a16="http://schemas.microsoft.com/office/drawing/2014/main" id="{65EFF488-28C3-4E39-A580-C7DAC94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343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AF7D8729-4CC7-4B5E-A1CE-9DE7FC6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BaseViewer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367290A3-CA35-4B48-9035-756F663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специализированный класс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C469B402-634B-40A1-9A3A-00461DA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box-3">
            <a:extLst xmlns:a="http://schemas.openxmlformats.org/drawingml/2006/main">
              <a:ext uri="{FF2B5EF4-FFF2-40B4-BE49-F238E27FC236}">
                <a16:creationId xmlns:a16="http://schemas.microsoft.com/office/drawing/2014/main" id="{F43B4BFE-DF1F-4CCA-8F0F-0C634188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2533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248DECCE-8229-4368-B0E7-3C0A6A2A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Предпросмотр</a:t>
            </a:r>
          </a:p>
        </p:txBody>
      </p:sp>
      <p:sp>
        <p:nvSpPr>
          <p:cNvPr id="16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0B348678-AEDB-44C7-B9EA-BEB2A0E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28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Qt-виджет слева</a:t>
            </a:r>
          </a:p>
        </p:txBody>
      </p:sp>
      <p:sp>
        <p:nvSpPr>
          <p:cNvPr id="17" name="fallback-line">
            <a:extLst xmlns:a="http://schemas.openxmlformats.org/drawingml/2006/main">
              <a:ext uri="{FF2B5EF4-FFF2-40B4-BE49-F238E27FC236}">
                <a16:creationId xmlns:a16="http://schemas.microsoft.com/office/drawing/2014/main" id="{DB851A8B-08F2-46D9-8581-3A178126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allback-arrow">
            <a:extLst xmlns:a="http://schemas.openxmlformats.org/drawingml/2006/main">
              <a:ext uri="{FF2B5EF4-FFF2-40B4-BE49-F238E27FC236}">
                <a16:creationId xmlns:a16="http://schemas.microsoft.com/office/drawing/2014/main" id="{CF31880B-8387-4DA7-9D4A-0F099F6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2476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allback-box">
            <a:extLst xmlns:a="http://schemas.openxmlformats.org/drawingml/2006/main">
              <a:ext uri="{FF2B5EF4-FFF2-40B4-BE49-F238E27FC236}">
                <a16:creationId xmlns:a16="http://schemas.microsoft.com/office/drawing/2014/main" id="{8BDCA3AA-21E3-4DE4-949B-DCB92973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allback-label">
            <a:extLst xmlns:a="http://schemas.openxmlformats.org/drawingml/2006/main">
              <a:ext uri="{FF2B5EF4-FFF2-40B4-BE49-F238E27FC236}">
                <a16:creationId xmlns:a16="http://schemas.microsoft.com/office/drawing/2014/main" id="{22FD0F66-903A-4621-BE0F-ADFE4835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910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BinaryViewer · HEX</a:t>
            </a:r>
          </a:p>
        </p:txBody>
      </p:sp>
      <p:sp>
        <p:nvSpPr>
          <p:cNvPr id="21" name="fallback-caption">
            <a:extLst xmlns:a="http://schemas.openxmlformats.org/drawingml/2006/main">
              <a:ext uri="{FF2B5EF4-FFF2-40B4-BE49-F238E27FC236}">
                <a16:creationId xmlns:a16="http://schemas.microsoft.com/office/drawing/2014/main" id="{39BA0E22-0297-45C2-8783-8F74D29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720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при ошибке разбора</a:t>
            </a:r>
          </a:p>
        </p:txBody>
      </p:sp>
      <p:sp>
        <p:nvSpPr>
          <p:cNvPr id="22" name="security-rule">
            <a:extLst xmlns:a="http://schemas.openxmlformats.org/drawingml/2006/main">
              <a:ext uri="{FF2B5EF4-FFF2-40B4-BE49-F238E27FC236}">
                <a16:creationId xmlns:a16="http://schemas.microsoft.com/office/drawing/2014/main" id="{11D6F19E-0A71-4A41-AC3B-A75CB33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curity-primary">
            <a:extLst xmlns:a="http://schemas.openxmlformats.org/drawingml/2006/main">
              <a:ext uri="{FF2B5EF4-FFF2-40B4-BE49-F238E27FC236}">
                <a16:creationId xmlns:a16="http://schemas.microsoft.com/office/drawing/2014/main" id="{81EA41BE-32DF-4E47-BF28-94139A6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Не используются subprocess, os.system, QProcess и xdg-open.</a:t>
            </a:r>
          </a:p>
        </p:txBody>
      </p:sp>
      <p:sp>
        <p:nvSpPr>
          <p:cNvPr id="24" name="security-secondary">
            <a:extLst xmlns:a="http://schemas.openxmlformats.org/drawingml/2006/main">
              <a:ext uri="{FF2B5EF4-FFF2-40B4-BE49-F238E27FC236}">
                <a16:creationId xmlns:a16="http://schemas.microsoft.com/office/drawing/2014/main" id="{7148D7A0-5D5D-497C-8727-307E6EC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76900"/>
            <a:ext cx="432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Архивы индексируются, а содержимое просматриваемых файлов не исполняется.</a:t>
            </a:r>
          </a:p>
        </p:txBody>
      </p:sp>
      <p:sp>
        <p:nvSpPr>
          <p:cNvPr id="25" name="slide-6-footer-rule">
            <a:extLst xmlns:a="http://schemas.openxmlformats.org/drawingml/2006/main">
              <a:ext uri="{FF2B5EF4-FFF2-40B4-BE49-F238E27FC236}">
                <a16:creationId xmlns:a16="http://schemas.microsoft.com/office/drawing/2014/main" id="{4D25EE5E-7DEF-49F0-9377-73A36205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-6-footer-label">
            <a:extLst xmlns:a="http://schemas.openxmlformats.org/drawingml/2006/main">
              <a:ext uri="{FF2B5EF4-FFF2-40B4-BE49-F238E27FC236}">
                <a16:creationId xmlns:a16="http://schemas.microsoft.com/office/drawing/2014/main" id="{5F3026D8-BEA1-4028-85A6-74F5F66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27" name="slide-6-footer-number">
            <a:extLst xmlns:a="http://schemas.openxmlformats.org/drawingml/2006/main">
              <a:ext uri="{FF2B5EF4-FFF2-40B4-BE49-F238E27FC236}">
                <a16:creationId xmlns:a16="http://schemas.microsoft.com/office/drawing/2014/main" id="{74A21794-02B1-4908-940E-57CE3906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8376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8AFCBCF-89E1-4C51-8A5A-4303349C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Сборка, проверка и расширение</a:t>
            </a:r>
          </a:p>
        </p:txBody>
      </p:sp>
      <p:sp>
        <p:nvSpPr>
          <p:cNvPr id="2" name="commands-kicker">
            <a:extLst xmlns:a="http://schemas.openxmlformats.org/drawingml/2006/main">
              <a:ext uri="{FF2B5EF4-FFF2-40B4-BE49-F238E27FC236}">
                <a16:creationId xmlns:a16="http://schemas.microsoft.com/office/drawing/2014/main" id="{E34F7F44-3C5F-4F8C-92A5-4F20A292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ОСНОВНЫЕ КОМАНДЫ</a:t>
            </a:r>
          </a:p>
        </p:txBody>
      </p:sp>
      <p:sp>
        <p:nvSpPr>
          <p:cNvPr id="3" name="commands-panel">
            <a:extLst xmlns:a="http://schemas.openxmlformats.org/drawingml/2006/main">
              <a:ext uri="{FF2B5EF4-FFF2-40B4-BE49-F238E27FC236}">
                <a16:creationId xmlns:a16="http://schemas.microsoft.com/office/drawing/2014/main" id="{A1971C60-0712-42CF-BFA7-7D417D8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mmands-code">
            <a:extLst xmlns:a="http://schemas.openxmlformats.org/drawingml/2006/main">
              <a:ext uri="{FF2B5EF4-FFF2-40B4-BE49-F238E27FC236}">
                <a16:creationId xmlns:a16="http://schemas.microsoft.com/office/drawing/2014/main" id="{76F720AD-488F-43BD-A415-157C3B72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make install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make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make check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$ make build</a:t>
            </a:r>
          </a:p>
        </p:txBody>
      </p:sp>
      <p:sp>
        <p:nvSpPr>
          <p:cNvPr id="5" name="proof-count">
            <a:extLst xmlns:a="http://schemas.openxmlformats.org/drawingml/2006/main">
              <a:ext uri="{FF2B5EF4-FFF2-40B4-BE49-F238E27FC236}">
                <a16:creationId xmlns:a16="http://schemas.microsoft.com/office/drawing/2014/main" id="{48386BD6-709F-400A-BD46-4D5F9CAA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6" name="proof-count-label">
            <a:extLst xmlns:a="http://schemas.openxmlformats.org/drawingml/2006/main">
              <a:ext uri="{FF2B5EF4-FFF2-40B4-BE49-F238E27FC236}">
                <a16:creationId xmlns:a16="http://schemas.microsoft.com/office/drawing/2014/main" id="{FD9BCAD0-AB4D-49F2-AD18-E902EA56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автоматических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тестов</a:t>
            </a:r>
          </a:p>
        </p:txBody>
      </p:sp>
      <p:sp>
        <p:nvSpPr>
          <p:cNvPr id="7" name="proof-rule-1">
            <a:extLst xmlns:a="http://schemas.openxmlformats.org/drawingml/2006/main">
              <a:ext uri="{FF2B5EF4-FFF2-40B4-BE49-F238E27FC236}">
                <a16:creationId xmlns:a16="http://schemas.microsoft.com/office/drawing/2014/main" id="{D91FC3BC-A888-461B-9B1F-1607B43E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of-build">
            <a:extLst xmlns:a="http://schemas.openxmlformats.org/drawingml/2006/main">
              <a:ext uri="{FF2B5EF4-FFF2-40B4-BE49-F238E27FC236}">
                <a16:creationId xmlns:a16="http://schemas.microsoft.com/office/drawing/2014/main" id="{24EF0DD1-8AD7-44BE-97AC-92CF768F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Wheel</a:t>
            </a:r>
          </a:p>
        </p:txBody>
      </p:sp>
      <p:sp>
        <p:nvSpPr>
          <p:cNvPr id="9" name="proof-build-label">
            <a:extLst xmlns:a="http://schemas.openxmlformats.org/drawingml/2006/main">
              <a:ext uri="{FF2B5EF4-FFF2-40B4-BE49-F238E27FC236}">
                <a16:creationId xmlns:a16="http://schemas.microsoft.com/office/drawing/2014/main" id="{5D3B0B8D-7106-4B2C-BF1A-4A0C4570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собирается командой make build</a:t>
            </a:r>
          </a:p>
        </p:txBody>
      </p:sp>
      <p:sp>
        <p:nvSpPr>
          <p:cNvPr id="10" name="proof-rule-2">
            <a:extLst xmlns:a="http://schemas.openxmlformats.org/drawingml/2006/main">
              <a:ext uri="{FF2B5EF4-FFF2-40B4-BE49-F238E27FC236}">
                <a16:creationId xmlns:a16="http://schemas.microsoft.com/office/drawing/2014/main" id="{8279F5BD-CD1D-47CA-8AEB-7DB986F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of-ubuntu">
            <a:extLst xmlns:a="http://schemas.openxmlformats.org/drawingml/2006/main">
              <a:ext uri="{FF2B5EF4-FFF2-40B4-BE49-F238E27FC236}">
                <a16:creationId xmlns:a16="http://schemas.microsoft.com/office/drawing/2014/main" id="{9A725E34-A2B2-4B67-95C4-09BAB3C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Ubuntu</a:t>
            </a:r>
          </a:p>
        </p:txBody>
      </p:sp>
      <p:sp>
        <p:nvSpPr>
          <p:cNvPr id="12" name="proof-ubuntu-label">
            <a:extLst xmlns:a="http://schemas.openxmlformats.org/drawingml/2006/main">
              <a:ext uri="{FF2B5EF4-FFF2-40B4-BE49-F238E27FC236}">
                <a16:creationId xmlns:a16="http://schemas.microsoft.com/office/drawing/2014/main" id="{8F4A5348-9573-4178-ABF8-C8E93CA8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10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установка и контейнерная проверка предусмотрены проектом</a:t>
            </a:r>
          </a:p>
        </p:txBody>
      </p:sp>
      <p:sp>
        <p:nvSpPr>
          <p:cNvPr id="13" name="extension-panel">
            <a:extLst xmlns:a="http://schemas.openxmlformats.org/drawingml/2006/main">
              <a:ext uri="{FF2B5EF4-FFF2-40B4-BE49-F238E27FC236}">
                <a16:creationId xmlns:a16="http://schemas.microsoft.com/office/drawing/2014/main" id="{A0465822-8A55-4A63-BC0F-A76B7915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tension-head">
            <a:extLst xmlns:a="http://schemas.openxmlformats.org/drawingml/2006/main">
              <a:ext uri="{FF2B5EF4-FFF2-40B4-BE49-F238E27FC236}">
                <a16:creationId xmlns:a16="http://schemas.microsoft.com/office/drawing/2014/main" id="{22EE6969-3D1B-4DD6-AF33-093025D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Новый формат</a:t>
            </a:r>
          </a:p>
        </p:txBody>
      </p:sp>
      <p:sp>
        <p:nvSpPr>
          <p:cNvPr id="15" name="extension-equation">
            <a:extLst xmlns:a="http://schemas.openxmlformats.org/drawingml/2006/main">
              <a:ext uri="{FF2B5EF4-FFF2-40B4-BE49-F238E27FC236}">
                <a16:creationId xmlns:a16="http://schemas.microsoft.com/office/drawing/2014/main" id="{AD3244EE-41C8-40F4-A175-9D34BC9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63"/>
                </a:solidFill>
                <a:latin typeface="Helvetica Neue"/>
                <a:ea typeface="Helvetica Neue"/>
                <a:cs typeface="Helvetica Neue"/>
              </a:rPr>
              <a:t>класс BaseViewer  +  регистрация  +  тест</a:t>
            </a:r>
          </a:p>
        </p:txBody>
      </p:sp>
      <p:sp>
        <p:nvSpPr>
          <p:cNvPr id="16" name="extension-caption">
            <a:extLst xmlns:a="http://schemas.openxmlformats.org/drawingml/2006/main">
              <a:ext uri="{FF2B5EF4-FFF2-40B4-BE49-F238E27FC236}">
                <a16:creationId xmlns:a16="http://schemas.microsoft.com/office/drawing/2014/main" id="{36298C8C-069C-489D-A671-3C18DA02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Главное окно, список форматов и счётчик обновляются без изменения основной логики.</a:t>
            </a:r>
          </a:p>
        </p:txBody>
      </p:sp>
      <p:sp>
        <p:nvSpPr>
          <p:cNvPr id="17" name="slide-7-footer-rule">
            <a:extLst xmlns:a="http://schemas.openxmlformats.org/drawingml/2006/main">
              <a:ext uri="{FF2B5EF4-FFF2-40B4-BE49-F238E27FC236}">
                <a16:creationId xmlns:a16="http://schemas.microsoft.com/office/drawing/2014/main" id="{BC299579-5232-476C-B7C1-80C1B72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-7-footer-label">
            <a:extLst xmlns:a="http://schemas.openxmlformats.org/drawingml/2006/main">
              <a:ext uri="{FF2B5EF4-FFF2-40B4-BE49-F238E27FC236}">
                <a16:creationId xmlns:a16="http://schemas.microsoft.com/office/drawing/2014/main" id="{2F16F9A6-5D14-4111-94BD-7121A20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Vibe Viewer</a:t>
            </a:r>
          </a:p>
        </p:txBody>
      </p:sp>
      <p:sp>
        <p:nvSpPr>
          <p:cNvPr id="19" name="slide-7-footer-number">
            <a:extLst xmlns:a="http://schemas.openxmlformats.org/drawingml/2006/main">
              <a:ext uri="{FF2B5EF4-FFF2-40B4-BE49-F238E27FC236}">
                <a16:creationId xmlns:a16="http://schemas.microsoft.com/office/drawing/2014/main" id="{A85E37F8-2ED9-48BB-926A-ED63AE71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A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674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2026-09-03T16:36:38.9330000Z</dcterms:created>
  <dcterms:modified xsi:type="dcterms:W3CDTF">2026-09-03T16:36:38.9330000Z</dcterms:modified>
</coreProperties>
</file>